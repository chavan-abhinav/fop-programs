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erlin Sans FB" panose="020E0602020502020306" pitchFamily="34" charset="0"/>
      <p:regular r:id="rId12"/>
      <p:bold r:id="rId13"/>
    </p:embeddedFont>
    <p:embeddedFont>
      <p:font typeface="Poppins" panose="00000500000000000000" pitchFamily="2" charset="0"/>
      <p:regular r:id="rId14"/>
    </p:embeddedFont>
    <p:embeddedFont>
      <p:font typeface="Poppins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18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CC6720-7158-8B34-64EE-BF704EB52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4" b="12713"/>
          <a:stretch>
            <a:fillRect/>
          </a:stretch>
        </p:blipFill>
        <p:spPr>
          <a:xfrm>
            <a:off x="-1" y="10364"/>
            <a:ext cx="19558757" cy="1027663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-1256894" y="82503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-685800" y="1638300"/>
            <a:ext cx="13687502" cy="203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89"/>
              </a:lnSpc>
            </a:pPr>
            <a:r>
              <a:rPr lang="en-US" sz="8800" u="sng" dirty="0">
                <a:solidFill>
                  <a:srgbClr val="FC188A"/>
                </a:solidFill>
                <a:latin typeface="Berlin Sans FB" panose="020E0602020502020306" pitchFamily="34" charset="0"/>
                <a:ea typeface="Poppins"/>
                <a:cs typeface="Times New Roman" panose="02020603050405020304" pitchFamily="18" charset="0"/>
                <a:sym typeface="Poppins"/>
              </a:rPr>
              <a:t>C Programming in ATMs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39002-737C-CCB5-F909-332B3CC80F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0297"/>
          <a:stretch>
            <a:fillRect/>
          </a:stretch>
        </p:blipFill>
        <p:spPr>
          <a:xfrm>
            <a:off x="4762499" y="190500"/>
            <a:ext cx="2286001" cy="209722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70C7FE-C3AE-C5B1-0047-5EA208153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92474"/>
              </p:ext>
            </p:extLst>
          </p:nvPr>
        </p:nvGraphicFramePr>
        <p:xfrm>
          <a:off x="2907412" y="3915656"/>
          <a:ext cx="6501077" cy="36989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399">
                  <a:extLst>
                    <a:ext uri="{9D8B030D-6E8A-4147-A177-3AD203B41FA5}">
                      <a16:colId xmlns:a16="http://schemas.microsoft.com/office/drawing/2014/main" val="22623558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27063378"/>
                    </a:ext>
                  </a:extLst>
                </a:gridCol>
                <a:gridCol w="2310078">
                  <a:extLst>
                    <a:ext uri="{9D8B030D-6E8A-4147-A177-3AD203B41FA5}">
                      <a16:colId xmlns:a16="http://schemas.microsoft.com/office/drawing/2014/main" val="953774734"/>
                    </a:ext>
                  </a:extLst>
                </a:gridCol>
              </a:tblGrid>
              <a:tr h="63345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sng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1" u="sng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sng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  <a:endParaRPr lang="en-IN" sz="3200" b="1" u="sng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359357"/>
                  </a:ext>
                </a:extLst>
              </a:tr>
              <a:tr h="58077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Arun S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1262250907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5354253"/>
                  </a:ext>
                </a:extLst>
              </a:tr>
              <a:tr h="60849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Abhinav Chavan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1262251966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4831899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Himanshu Zore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1262254106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99001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Krishnanunni</a:t>
                      </a: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Kurup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1262250827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656020"/>
                  </a:ext>
                </a:extLst>
              </a:tr>
              <a:tr h="58077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Declan Po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1262250688</a:t>
                      </a:r>
                      <a:endParaRPr lang="en-IN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747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D7F7E7B-448B-C282-C561-AC0F29D8FA1B}"/>
              </a:ext>
            </a:extLst>
          </p:cNvPr>
          <p:cNvSpPr txBox="1"/>
          <p:nvPr/>
        </p:nvSpPr>
        <p:spPr>
          <a:xfrm>
            <a:off x="3151496" y="798872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Anuradha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Nagare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60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5308051" y="704850"/>
            <a:ext cx="7671898" cy="990600"/>
            <a:chOff x="-51911" y="28163"/>
            <a:chExt cx="1740482" cy="248924"/>
          </a:xfrm>
        </p:grpSpPr>
        <p:sp>
          <p:nvSpPr>
            <p:cNvPr id="4" name="Freeform 4"/>
            <p:cNvSpPr/>
            <p:nvPr/>
          </p:nvSpPr>
          <p:spPr>
            <a:xfrm>
              <a:off x="156904" y="28163"/>
              <a:ext cx="1474064" cy="248924"/>
            </a:xfrm>
            <a:custGeom>
              <a:avLst/>
              <a:gdLst/>
              <a:ahLst/>
              <a:cxnLst/>
              <a:rect l="l" t="t" r="r" b="b"/>
              <a:pathLst>
                <a:path w="1636660" h="248924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180402"/>
                  </a:lnTo>
                  <a:cubicBezTo>
                    <a:pt x="1636660" y="198575"/>
                    <a:pt x="1629441" y="216004"/>
                    <a:pt x="1616591" y="228854"/>
                  </a:cubicBezTo>
                  <a:cubicBezTo>
                    <a:pt x="1603740" y="241704"/>
                    <a:pt x="1586312" y="248924"/>
                    <a:pt x="1568139" y="248924"/>
                  </a:cubicBezTo>
                  <a:lnTo>
                    <a:pt x="68521" y="248924"/>
                  </a:lnTo>
                  <a:cubicBezTo>
                    <a:pt x="50348" y="248924"/>
                    <a:pt x="32920" y="241704"/>
                    <a:pt x="20069" y="228854"/>
                  </a:cubicBezTo>
                  <a:cubicBezTo>
                    <a:pt x="7219" y="216004"/>
                    <a:pt x="0" y="198575"/>
                    <a:pt x="0" y="180402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51911" y="28163"/>
              <a:ext cx="1740482" cy="248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r>
                <a:rPr lang="en-US" sz="4800" b="1" u="sng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INTRODUCTION</a:t>
              </a:r>
              <a:endParaRPr lang="en-US" sz="3499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7644" y="3238500"/>
            <a:ext cx="16712712" cy="436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134" lvl="1" indent="-328567" algn="just">
              <a:lnSpc>
                <a:spcPts val="4261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Teller Machines (ATMs) are real-time embedded systems that perform secure banking operations such as cash withdrawal, balance enquiry, and deposits.</a:t>
            </a:r>
          </a:p>
          <a:p>
            <a:pPr marL="657134" lvl="1" indent="-328567" algn="just">
              <a:lnSpc>
                <a:spcPts val="4261"/>
              </a:lnSpc>
              <a:buFont typeface="Arial"/>
              <a:buChar char="•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57134" lvl="1" indent="-328567" algn="just">
              <a:lnSpc>
                <a:spcPts val="4261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 programming is widely used in ATMs because it is efficient, reliable, and close to hardware. Using control structures like if-else, loops, and switch-case, C programs handle user authentication, transaction processing, and error handling.</a:t>
            </a:r>
          </a:p>
          <a:p>
            <a:pPr algn="just">
              <a:lnSpc>
                <a:spcPts val="4261"/>
              </a:lnSpc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657134" lvl="1" indent="-328567" algn="just">
              <a:lnSpc>
                <a:spcPts val="4261"/>
              </a:lnSpc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Thus, C programming plays a crucial role in the smooth and safe functioning of ATMs.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256894" y="82503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557378" y="-20781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25128" y="2499934"/>
            <a:ext cx="3559619" cy="3359634"/>
            <a:chOff x="0" y="0"/>
            <a:chExt cx="937513" cy="8848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7513" cy="884842"/>
            </a:xfrm>
            <a:custGeom>
              <a:avLst/>
              <a:gdLst/>
              <a:ahLst/>
              <a:cxnLst/>
              <a:rect l="l" t="t" r="r" b="b"/>
              <a:pathLst>
                <a:path w="937513" h="884842">
                  <a:moveTo>
                    <a:pt x="108746" y="0"/>
                  </a:moveTo>
                  <a:lnTo>
                    <a:pt x="828766" y="0"/>
                  </a:lnTo>
                  <a:cubicBezTo>
                    <a:pt x="857608" y="0"/>
                    <a:pt x="885268" y="11457"/>
                    <a:pt x="905662" y="31851"/>
                  </a:cubicBezTo>
                  <a:cubicBezTo>
                    <a:pt x="926056" y="52245"/>
                    <a:pt x="937513" y="79905"/>
                    <a:pt x="937513" y="108746"/>
                  </a:cubicBezTo>
                  <a:lnTo>
                    <a:pt x="937513" y="776095"/>
                  </a:lnTo>
                  <a:cubicBezTo>
                    <a:pt x="937513" y="804937"/>
                    <a:pt x="926056" y="832597"/>
                    <a:pt x="905662" y="852991"/>
                  </a:cubicBezTo>
                  <a:cubicBezTo>
                    <a:pt x="885268" y="873385"/>
                    <a:pt x="857608" y="884842"/>
                    <a:pt x="828766" y="884842"/>
                  </a:cubicBezTo>
                  <a:lnTo>
                    <a:pt x="108746" y="884842"/>
                  </a:lnTo>
                  <a:cubicBezTo>
                    <a:pt x="79905" y="884842"/>
                    <a:pt x="52245" y="873385"/>
                    <a:pt x="31851" y="852991"/>
                  </a:cubicBezTo>
                  <a:cubicBezTo>
                    <a:pt x="11457" y="832597"/>
                    <a:pt x="0" y="804937"/>
                    <a:pt x="0" y="776095"/>
                  </a:cubicBezTo>
                  <a:lnTo>
                    <a:pt x="0" y="108746"/>
                  </a:lnTo>
                  <a:cubicBezTo>
                    <a:pt x="0" y="79905"/>
                    <a:pt x="11457" y="52245"/>
                    <a:pt x="31851" y="31851"/>
                  </a:cubicBezTo>
                  <a:cubicBezTo>
                    <a:pt x="52245" y="11457"/>
                    <a:pt x="79905" y="0"/>
                    <a:pt x="1087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37513" cy="941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Times New Roman" panose="02020603050405020304" pitchFamily="18" charset="0"/>
                  <a:ea typeface="Montserrat"/>
                  <a:cs typeface="Times New Roman" panose="02020603050405020304" pitchFamily="18" charset="0"/>
                  <a:sym typeface="Montserrat"/>
                </a:rPr>
                <a:t>Card Insertion and Reading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5042" y="2622053"/>
            <a:ext cx="796116" cy="7961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36715" y="2742449"/>
            <a:ext cx="55277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100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737147" y="4900810"/>
            <a:ext cx="3361928" cy="3349520"/>
            <a:chOff x="0" y="0"/>
            <a:chExt cx="885446" cy="8821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5446" cy="882178"/>
            </a:xfrm>
            <a:custGeom>
              <a:avLst/>
              <a:gdLst/>
              <a:ahLst/>
              <a:cxnLst/>
              <a:rect l="l" t="t" r="r" b="b"/>
              <a:pathLst>
                <a:path w="885446" h="882178">
                  <a:moveTo>
                    <a:pt x="115141" y="0"/>
                  </a:moveTo>
                  <a:lnTo>
                    <a:pt x="770305" y="0"/>
                  </a:lnTo>
                  <a:cubicBezTo>
                    <a:pt x="800842" y="0"/>
                    <a:pt x="830129" y="12131"/>
                    <a:pt x="851722" y="33724"/>
                  </a:cubicBezTo>
                  <a:cubicBezTo>
                    <a:pt x="873315" y="55317"/>
                    <a:pt x="885446" y="84604"/>
                    <a:pt x="885446" y="115141"/>
                  </a:cubicBezTo>
                  <a:lnTo>
                    <a:pt x="885446" y="767037"/>
                  </a:lnTo>
                  <a:cubicBezTo>
                    <a:pt x="885446" y="797574"/>
                    <a:pt x="873315" y="826861"/>
                    <a:pt x="851722" y="848454"/>
                  </a:cubicBezTo>
                  <a:cubicBezTo>
                    <a:pt x="830129" y="870047"/>
                    <a:pt x="800842" y="882178"/>
                    <a:pt x="770305" y="882178"/>
                  </a:cubicBezTo>
                  <a:lnTo>
                    <a:pt x="115141" y="882178"/>
                  </a:lnTo>
                  <a:cubicBezTo>
                    <a:pt x="84604" y="882178"/>
                    <a:pt x="55317" y="870047"/>
                    <a:pt x="33724" y="848454"/>
                  </a:cubicBezTo>
                  <a:cubicBezTo>
                    <a:pt x="12131" y="826861"/>
                    <a:pt x="0" y="797574"/>
                    <a:pt x="0" y="767037"/>
                  </a:cubicBezTo>
                  <a:lnTo>
                    <a:pt x="0" y="115141"/>
                  </a:lnTo>
                  <a:cubicBezTo>
                    <a:pt x="0" y="84604"/>
                    <a:pt x="12131" y="55317"/>
                    <a:pt x="33724" y="33724"/>
                  </a:cubicBezTo>
                  <a:cubicBezTo>
                    <a:pt x="55317" y="12131"/>
                    <a:pt x="84604" y="0"/>
                    <a:pt x="1151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85446" cy="939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Times New Roman" panose="02020603050405020304" pitchFamily="18" charset="0"/>
                  <a:ea typeface="Montserrat"/>
                  <a:cs typeface="Times New Roman" panose="02020603050405020304" pitchFamily="18" charset="0"/>
                  <a:sym typeface="Montserrat"/>
                </a:rPr>
                <a:t>PIN Authentication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62005" y="5143500"/>
            <a:ext cx="796116" cy="79611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983678" y="5302488"/>
            <a:ext cx="55277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100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346004" y="2514452"/>
            <a:ext cx="3402240" cy="3345115"/>
            <a:chOff x="0" y="-57150"/>
            <a:chExt cx="896063" cy="8810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96063" cy="823868"/>
            </a:xfrm>
            <a:custGeom>
              <a:avLst/>
              <a:gdLst/>
              <a:ahLst/>
              <a:cxnLst/>
              <a:rect l="l" t="t" r="r" b="b"/>
              <a:pathLst>
                <a:path w="896063" h="823868">
                  <a:moveTo>
                    <a:pt x="113777" y="0"/>
                  </a:moveTo>
                  <a:lnTo>
                    <a:pt x="782286" y="0"/>
                  </a:lnTo>
                  <a:cubicBezTo>
                    <a:pt x="845124" y="0"/>
                    <a:pt x="896063" y="50940"/>
                    <a:pt x="896063" y="113777"/>
                  </a:cubicBezTo>
                  <a:lnTo>
                    <a:pt x="896063" y="710091"/>
                  </a:lnTo>
                  <a:cubicBezTo>
                    <a:pt x="896063" y="740267"/>
                    <a:pt x="884076" y="769206"/>
                    <a:pt x="862739" y="790544"/>
                  </a:cubicBezTo>
                  <a:cubicBezTo>
                    <a:pt x="841401" y="811881"/>
                    <a:pt x="812462" y="823868"/>
                    <a:pt x="782286" y="823868"/>
                  </a:cubicBezTo>
                  <a:lnTo>
                    <a:pt x="113777" y="823868"/>
                  </a:lnTo>
                  <a:cubicBezTo>
                    <a:pt x="50940" y="823868"/>
                    <a:pt x="0" y="772928"/>
                    <a:pt x="0" y="710091"/>
                  </a:cubicBezTo>
                  <a:lnTo>
                    <a:pt x="0" y="113777"/>
                  </a:lnTo>
                  <a:cubicBezTo>
                    <a:pt x="0" y="83601"/>
                    <a:pt x="11987" y="54662"/>
                    <a:pt x="33324" y="33324"/>
                  </a:cubicBezTo>
                  <a:cubicBezTo>
                    <a:pt x="54662" y="11987"/>
                    <a:pt x="83601" y="0"/>
                    <a:pt x="1137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96063" cy="881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Times New Roman" panose="02020603050405020304" pitchFamily="18" charset="0"/>
                  <a:ea typeface="Montserrat"/>
                  <a:cs typeface="Times New Roman" panose="02020603050405020304" pitchFamily="18" charset="0"/>
                  <a:sym typeface="Montserrat"/>
                </a:rPr>
                <a:t>Selecting Deposit or Withdrawal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46004" y="2785717"/>
            <a:ext cx="796116" cy="79611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346004" y="2929774"/>
            <a:ext cx="55277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100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900644" y="4900810"/>
            <a:ext cx="3402240" cy="3128124"/>
            <a:chOff x="0" y="0"/>
            <a:chExt cx="896063" cy="8238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96063" cy="823868"/>
            </a:xfrm>
            <a:custGeom>
              <a:avLst/>
              <a:gdLst/>
              <a:ahLst/>
              <a:cxnLst/>
              <a:rect l="l" t="t" r="r" b="b"/>
              <a:pathLst>
                <a:path w="896063" h="823868">
                  <a:moveTo>
                    <a:pt x="113777" y="0"/>
                  </a:moveTo>
                  <a:lnTo>
                    <a:pt x="782286" y="0"/>
                  </a:lnTo>
                  <a:cubicBezTo>
                    <a:pt x="845124" y="0"/>
                    <a:pt x="896063" y="50940"/>
                    <a:pt x="896063" y="113777"/>
                  </a:cubicBezTo>
                  <a:lnTo>
                    <a:pt x="896063" y="710091"/>
                  </a:lnTo>
                  <a:cubicBezTo>
                    <a:pt x="896063" y="740267"/>
                    <a:pt x="884076" y="769206"/>
                    <a:pt x="862739" y="790544"/>
                  </a:cubicBezTo>
                  <a:cubicBezTo>
                    <a:pt x="841401" y="811881"/>
                    <a:pt x="812462" y="823868"/>
                    <a:pt x="782286" y="823868"/>
                  </a:cubicBezTo>
                  <a:lnTo>
                    <a:pt x="113777" y="823868"/>
                  </a:lnTo>
                  <a:cubicBezTo>
                    <a:pt x="50940" y="823868"/>
                    <a:pt x="0" y="772928"/>
                    <a:pt x="0" y="710091"/>
                  </a:cubicBezTo>
                  <a:lnTo>
                    <a:pt x="0" y="113777"/>
                  </a:lnTo>
                  <a:cubicBezTo>
                    <a:pt x="0" y="83601"/>
                    <a:pt x="11987" y="54662"/>
                    <a:pt x="33324" y="33324"/>
                  </a:cubicBezTo>
                  <a:cubicBezTo>
                    <a:pt x="54662" y="11987"/>
                    <a:pt x="83601" y="0"/>
                    <a:pt x="1137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896063" cy="909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Cash Dispensing Mechanism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579109" y="2615689"/>
            <a:ext cx="3402240" cy="3128124"/>
            <a:chOff x="0" y="0"/>
            <a:chExt cx="896063" cy="8238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96063" cy="823868"/>
            </a:xfrm>
            <a:custGeom>
              <a:avLst/>
              <a:gdLst/>
              <a:ahLst/>
              <a:cxnLst/>
              <a:rect l="l" t="t" r="r" b="b"/>
              <a:pathLst>
                <a:path w="896063" h="823868">
                  <a:moveTo>
                    <a:pt x="113777" y="0"/>
                  </a:moveTo>
                  <a:lnTo>
                    <a:pt x="782286" y="0"/>
                  </a:lnTo>
                  <a:cubicBezTo>
                    <a:pt x="845124" y="0"/>
                    <a:pt x="896063" y="50940"/>
                    <a:pt x="896063" y="113777"/>
                  </a:cubicBezTo>
                  <a:lnTo>
                    <a:pt x="896063" y="710091"/>
                  </a:lnTo>
                  <a:cubicBezTo>
                    <a:pt x="896063" y="740267"/>
                    <a:pt x="884076" y="769206"/>
                    <a:pt x="862739" y="790544"/>
                  </a:cubicBezTo>
                  <a:cubicBezTo>
                    <a:pt x="841401" y="811881"/>
                    <a:pt x="812462" y="823868"/>
                    <a:pt x="782286" y="823868"/>
                  </a:cubicBezTo>
                  <a:lnTo>
                    <a:pt x="113777" y="823868"/>
                  </a:lnTo>
                  <a:cubicBezTo>
                    <a:pt x="50940" y="823868"/>
                    <a:pt x="0" y="772928"/>
                    <a:pt x="0" y="710091"/>
                  </a:cubicBezTo>
                  <a:lnTo>
                    <a:pt x="0" y="113777"/>
                  </a:lnTo>
                  <a:cubicBezTo>
                    <a:pt x="0" y="83601"/>
                    <a:pt x="11987" y="54662"/>
                    <a:pt x="33324" y="33324"/>
                  </a:cubicBezTo>
                  <a:cubicBezTo>
                    <a:pt x="54662" y="11987"/>
                    <a:pt x="83601" y="0"/>
                    <a:pt x="1137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896063" cy="900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 dirty="0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Printing Transaction Receipt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024469" y="5143500"/>
            <a:ext cx="796116" cy="796116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8294" y="5302488"/>
            <a:ext cx="55277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100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04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780316" y="2731443"/>
            <a:ext cx="796116" cy="79611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4901989" y="2875501"/>
            <a:ext cx="55277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100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05</a:t>
            </a:r>
          </a:p>
        </p:txBody>
      </p:sp>
      <p:sp>
        <p:nvSpPr>
          <p:cNvPr id="41" name="Freeform 4">
            <a:extLst>
              <a:ext uri="{FF2B5EF4-FFF2-40B4-BE49-F238E27FC236}">
                <a16:creationId xmlns:a16="http://schemas.microsoft.com/office/drawing/2014/main" id="{E322BFC6-C316-ADF7-7D62-E70D3381EED2}"/>
              </a:ext>
            </a:extLst>
          </p:cNvPr>
          <p:cNvSpPr/>
          <p:nvPr/>
        </p:nvSpPr>
        <p:spPr>
          <a:xfrm>
            <a:off x="4129374" y="639863"/>
            <a:ext cx="11049000" cy="984483"/>
          </a:xfrm>
          <a:custGeom>
            <a:avLst/>
            <a:gdLst/>
            <a:ahLst/>
            <a:cxnLst/>
            <a:rect l="l" t="t" r="r" b="b"/>
            <a:pathLst>
              <a:path w="1636660" h="248924">
                <a:moveTo>
                  <a:pt x="68521" y="0"/>
                </a:moveTo>
                <a:lnTo>
                  <a:pt x="1568139" y="0"/>
                </a:lnTo>
                <a:cubicBezTo>
                  <a:pt x="1586312" y="0"/>
                  <a:pt x="1603740" y="7219"/>
                  <a:pt x="1616591" y="20069"/>
                </a:cubicBezTo>
                <a:cubicBezTo>
                  <a:pt x="1629441" y="32920"/>
                  <a:pt x="1636660" y="50348"/>
                  <a:pt x="1636660" y="68521"/>
                </a:cubicBezTo>
                <a:lnTo>
                  <a:pt x="1636660" y="180402"/>
                </a:lnTo>
                <a:cubicBezTo>
                  <a:pt x="1636660" y="198575"/>
                  <a:pt x="1629441" y="216004"/>
                  <a:pt x="1616591" y="228854"/>
                </a:cubicBezTo>
                <a:cubicBezTo>
                  <a:pt x="1603740" y="241704"/>
                  <a:pt x="1586312" y="248924"/>
                  <a:pt x="1568139" y="248924"/>
                </a:cubicBezTo>
                <a:lnTo>
                  <a:pt x="68521" y="248924"/>
                </a:lnTo>
                <a:cubicBezTo>
                  <a:pt x="50348" y="248924"/>
                  <a:pt x="32920" y="241704"/>
                  <a:pt x="20069" y="228854"/>
                </a:cubicBezTo>
                <a:cubicBezTo>
                  <a:pt x="7219" y="216004"/>
                  <a:pt x="0" y="198575"/>
                  <a:pt x="0" y="180402"/>
                </a:cubicBezTo>
                <a:lnTo>
                  <a:pt x="0" y="68521"/>
                </a:lnTo>
                <a:cubicBezTo>
                  <a:pt x="0" y="50348"/>
                  <a:pt x="7219" y="32920"/>
                  <a:pt x="20069" y="20069"/>
                </a:cubicBezTo>
                <a:cubicBezTo>
                  <a:pt x="32920" y="7219"/>
                  <a:pt x="50348" y="0"/>
                  <a:pt x="68521" y="0"/>
                </a:cubicBezTo>
                <a:close/>
              </a:path>
            </a:pathLst>
          </a:custGeom>
          <a:gradFill rotWithShape="1">
            <a:gsLst>
              <a:gs pos="0">
                <a:srgbClr val="9D0186">
                  <a:alpha val="100000"/>
                </a:srgbClr>
              </a:gs>
              <a:gs pos="100000">
                <a:srgbClr val="A50288">
                  <a:alpha val="0"/>
                </a:srgbClr>
              </a:gs>
            </a:gsLst>
            <a:lin ang="0"/>
          </a:gradFill>
          <a:ln cap="rnd">
            <a:noFill/>
            <a:prstDash val="solid"/>
            <a:rou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Box 11"/>
          <p:cNvSpPr txBox="1"/>
          <p:nvPr/>
        </p:nvSpPr>
        <p:spPr>
          <a:xfrm>
            <a:off x="2077337" y="414099"/>
            <a:ext cx="14133326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4800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ATM WITHDRAWAL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89352" y="-22178"/>
            <a:ext cx="18109295" cy="2196698"/>
            <a:chOff x="136220" y="-89245"/>
            <a:chExt cx="4769526" cy="578555"/>
          </a:xfrm>
        </p:grpSpPr>
        <p:sp>
          <p:nvSpPr>
            <p:cNvPr id="4" name="Freeform 4"/>
            <p:cNvSpPr/>
            <p:nvPr/>
          </p:nvSpPr>
          <p:spPr>
            <a:xfrm>
              <a:off x="1096875" y="65354"/>
              <a:ext cx="3110716" cy="269358"/>
            </a:xfrm>
            <a:custGeom>
              <a:avLst/>
              <a:gdLst/>
              <a:ahLst/>
              <a:cxnLst/>
              <a:rect l="l" t="t" r="r" b="b"/>
              <a:pathLst>
                <a:path w="2235793" h="262718">
                  <a:moveTo>
                    <a:pt x="50160" y="0"/>
                  </a:moveTo>
                  <a:lnTo>
                    <a:pt x="2185634" y="0"/>
                  </a:lnTo>
                  <a:cubicBezTo>
                    <a:pt x="2213336" y="0"/>
                    <a:pt x="2235793" y="22457"/>
                    <a:pt x="2235793" y="50160"/>
                  </a:cubicBezTo>
                  <a:lnTo>
                    <a:pt x="2235793" y="212558"/>
                  </a:lnTo>
                  <a:cubicBezTo>
                    <a:pt x="2235793" y="225861"/>
                    <a:pt x="2230509" y="238619"/>
                    <a:pt x="2221102" y="248026"/>
                  </a:cubicBezTo>
                  <a:cubicBezTo>
                    <a:pt x="2211695" y="257433"/>
                    <a:pt x="2198937" y="262718"/>
                    <a:pt x="2185634" y="262718"/>
                  </a:cubicBezTo>
                  <a:lnTo>
                    <a:pt x="50160" y="262718"/>
                  </a:lnTo>
                  <a:cubicBezTo>
                    <a:pt x="36856" y="262718"/>
                    <a:pt x="24098" y="257433"/>
                    <a:pt x="14691" y="248026"/>
                  </a:cubicBezTo>
                  <a:cubicBezTo>
                    <a:pt x="5285" y="238619"/>
                    <a:pt x="0" y="225861"/>
                    <a:pt x="0" y="212558"/>
                  </a:cubicBezTo>
                  <a:lnTo>
                    <a:pt x="0" y="50160"/>
                  </a:lnTo>
                  <a:cubicBezTo>
                    <a:pt x="0" y="36856"/>
                    <a:pt x="5285" y="24098"/>
                    <a:pt x="14691" y="14691"/>
                  </a:cubicBezTo>
                  <a:cubicBezTo>
                    <a:pt x="24098" y="5285"/>
                    <a:pt x="36856" y="0"/>
                    <a:pt x="501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6220" y="-89245"/>
              <a:ext cx="4769526" cy="578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4800" b="1" u="sng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CARD INSERTION AND READING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7343633" y="4229100"/>
            <a:ext cx="9906000" cy="5363059"/>
          </a:xfrm>
          <a:custGeom>
            <a:avLst/>
            <a:gdLst/>
            <a:ahLst/>
            <a:cxnLst/>
            <a:rect l="l" t="t" r="r" b="b"/>
            <a:pathLst>
              <a:path w="9344156" h="5164699">
                <a:moveTo>
                  <a:pt x="0" y="0"/>
                </a:moveTo>
                <a:lnTo>
                  <a:pt x="9344156" y="0"/>
                </a:lnTo>
                <a:lnTo>
                  <a:pt x="9344156" y="5164700"/>
                </a:lnTo>
                <a:lnTo>
                  <a:pt x="0" y="5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69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038367" y="2880244"/>
            <a:ext cx="10074590" cy="197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94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USED TO DISPLAY THE ATM MENU REPEATEDLY UNTIL THE USER SELECTS EXIT.</a:t>
            </a:r>
          </a:p>
          <a:p>
            <a:pPr>
              <a:lnSpc>
                <a:spcPts val="3894"/>
              </a:lnSpc>
              <a:spcBef>
                <a:spcPct val="0"/>
              </a:spcBef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>
              <a:lnSpc>
                <a:spcPts val="3894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➡USES DO-WHILE LOOP.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256894" y="82503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557378" y="-20781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143000" y="1529562"/>
            <a:ext cx="14463059" cy="1867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USED TO SELECT DIFFERENT ATM OPERATIONS SUCH AS BALANCE CHECK, DEPOSIT, WITHDRAWAL, AND EXIT.</a:t>
            </a:r>
          </a:p>
          <a:p>
            <a:pPr>
              <a:lnSpc>
                <a:spcPts val="3919"/>
              </a:lnSpc>
              <a:spcBef>
                <a:spcPct val="0"/>
              </a:spcBef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➡USES SWITCH CASE.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381068-EF57-9E20-446A-A1E2F04CCA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87" y="2730100"/>
            <a:ext cx="11001851" cy="73345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18079E-B689-5D02-9091-E308404FD8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324" y="3392334"/>
            <a:ext cx="5181600" cy="66251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5495571" y="287353"/>
            <a:ext cx="8607103" cy="1526739"/>
            <a:chOff x="-41060" y="-57150"/>
            <a:chExt cx="2266892" cy="402104"/>
          </a:xfrm>
        </p:grpSpPr>
        <p:sp>
          <p:nvSpPr>
            <p:cNvPr id="4" name="Freeform 4"/>
            <p:cNvSpPr/>
            <p:nvPr/>
          </p:nvSpPr>
          <p:spPr>
            <a:xfrm>
              <a:off x="-41060" y="-1866"/>
              <a:ext cx="2266892" cy="287804"/>
            </a:xfrm>
            <a:custGeom>
              <a:avLst/>
              <a:gdLst/>
              <a:ahLst/>
              <a:cxnLst/>
              <a:rect l="l" t="t" r="r" b="b"/>
              <a:pathLst>
                <a:path w="1612532" h="287804">
                  <a:moveTo>
                    <a:pt x="35406" y="0"/>
                  </a:moveTo>
                  <a:lnTo>
                    <a:pt x="1577126" y="0"/>
                  </a:lnTo>
                  <a:cubicBezTo>
                    <a:pt x="1596680" y="0"/>
                    <a:pt x="1612532" y="15852"/>
                    <a:pt x="1612532" y="35406"/>
                  </a:cubicBezTo>
                  <a:lnTo>
                    <a:pt x="1612532" y="252398"/>
                  </a:lnTo>
                  <a:cubicBezTo>
                    <a:pt x="1612532" y="271952"/>
                    <a:pt x="1596680" y="287804"/>
                    <a:pt x="1577126" y="287804"/>
                  </a:cubicBezTo>
                  <a:lnTo>
                    <a:pt x="35406" y="287804"/>
                  </a:lnTo>
                  <a:cubicBezTo>
                    <a:pt x="15852" y="287804"/>
                    <a:pt x="0" y="271952"/>
                    <a:pt x="0" y="252398"/>
                  </a:cubicBezTo>
                  <a:lnTo>
                    <a:pt x="0" y="35406"/>
                  </a:lnTo>
                  <a:cubicBezTo>
                    <a:pt x="0" y="15852"/>
                    <a:pt x="15852" y="0"/>
                    <a:pt x="354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41060" y="-57150"/>
              <a:ext cx="2046131" cy="402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4800" b="1" u="sng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PIN AUTHENTICATION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9561272" y="1799920"/>
            <a:ext cx="8607103" cy="4723841"/>
          </a:xfrm>
          <a:custGeom>
            <a:avLst/>
            <a:gdLst/>
            <a:ahLst/>
            <a:cxnLst/>
            <a:rect l="l" t="t" r="r" b="b"/>
            <a:pathLst>
              <a:path w="7877166" h="4624808">
                <a:moveTo>
                  <a:pt x="0" y="0"/>
                </a:moveTo>
                <a:lnTo>
                  <a:pt x="7877166" y="0"/>
                </a:lnTo>
                <a:lnTo>
                  <a:pt x="7877166" y="4624808"/>
                </a:lnTo>
                <a:lnTo>
                  <a:pt x="0" y="4624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528281" y="6485662"/>
            <a:ext cx="9032991" cy="3265978"/>
          </a:xfrm>
          <a:custGeom>
            <a:avLst/>
            <a:gdLst/>
            <a:ahLst/>
            <a:cxnLst/>
            <a:rect l="l" t="t" r="r" b="b"/>
            <a:pathLst>
              <a:path w="9032991" h="3265978">
                <a:moveTo>
                  <a:pt x="0" y="0"/>
                </a:moveTo>
                <a:lnTo>
                  <a:pt x="9032991" y="0"/>
                </a:lnTo>
                <a:lnTo>
                  <a:pt x="9032991" y="3265979"/>
                </a:lnTo>
                <a:lnTo>
                  <a:pt x="0" y="3265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582420" y="3052313"/>
            <a:ext cx="9216702" cy="1971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97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USED TO 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verify the entered PIN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and allow access only if it is correct.</a:t>
            </a:r>
          </a:p>
          <a:p>
            <a:pPr>
              <a:lnSpc>
                <a:spcPts val="3897"/>
              </a:lnSpc>
            </a:pP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>
              <a:lnSpc>
                <a:spcPts val="3897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➡USES IF-ELSE STATEMENT.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11560" y="7631338"/>
            <a:ext cx="7382227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USED TO LIMIT THE NUMBER OF PIN ATTEMPTS TO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256894" y="82503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557378" y="-20781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90458" y="649532"/>
            <a:ext cx="16116272" cy="971273"/>
            <a:chOff x="130966" y="60351"/>
            <a:chExt cx="2854344" cy="262896"/>
          </a:xfrm>
        </p:grpSpPr>
        <p:sp>
          <p:nvSpPr>
            <p:cNvPr id="6" name="Freeform 6"/>
            <p:cNvSpPr/>
            <p:nvPr/>
          </p:nvSpPr>
          <p:spPr>
            <a:xfrm>
              <a:off x="809125" y="60351"/>
              <a:ext cx="1686967" cy="262896"/>
            </a:xfrm>
            <a:custGeom>
              <a:avLst/>
              <a:gdLst/>
              <a:ahLst/>
              <a:cxnLst/>
              <a:rect l="l" t="t" r="r" b="b"/>
              <a:pathLst>
                <a:path w="2582809" h="633997">
                  <a:moveTo>
                    <a:pt x="22105" y="0"/>
                  </a:moveTo>
                  <a:lnTo>
                    <a:pt x="2560704" y="0"/>
                  </a:lnTo>
                  <a:cubicBezTo>
                    <a:pt x="2572913" y="0"/>
                    <a:pt x="2582809" y="9897"/>
                    <a:pt x="2582809" y="22105"/>
                  </a:cubicBezTo>
                  <a:lnTo>
                    <a:pt x="2582809" y="611892"/>
                  </a:lnTo>
                  <a:cubicBezTo>
                    <a:pt x="2582809" y="624100"/>
                    <a:pt x="2572913" y="633997"/>
                    <a:pt x="2560704" y="633997"/>
                  </a:cubicBezTo>
                  <a:lnTo>
                    <a:pt x="22105" y="633997"/>
                  </a:lnTo>
                  <a:cubicBezTo>
                    <a:pt x="16242" y="633997"/>
                    <a:pt x="10620" y="631668"/>
                    <a:pt x="6474" y="627522"/>
                  </a:cubicBezTo>
                  <a:cubicBezTo>
                    <a:pt x="2329" y="623377"/>
                    <a:pt x="0" y="617754"/>
                    <a:pt x="0" y="611892"/>
                  </a:cubicBezTo>
                  <a:lnTo>
                    <a:pt x="0" y="22105"/>
                  </a:lnTo>
                  <a:cubicBezTo>
                    <a:pt x="0" y="16242"/>
                    <a:pt x="2329" y="10620"/>
                    <a:pt x="6474" y="6474"/>
                  </a:cubicBezTo>
                  <a:cubicBezTo>
                    <a:pt x="10620" y="2329"/>
                    <a:pt x="16242" y="0"/>
                    <a:pt x="221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966" y="113842"/>
              <a:ext cx="2854344" cy="174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4800" b="1" u="sng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DEPOSIT &amp; WITHDRAWAL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39300" y="2365430"/>
            <a:ext cx="8372765" cy="2115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9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USES If-Else TO CHECK SUFFICIENT BALANCE BEFORE WITHDRAWING MONEY.</a:t>
            </a:r>
          </a:p>
          <a:p>
            <a:pPr>
              <a:lnSpc>
                <a:spcPts val="4199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SUBTRACTS THE WITHDRAWN MONEY FROM BALANCE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661AFE-58CC-D6A2-0807-EB81E1E085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0" y="4905296"/>
            <a:ext cx="7239000" cy="482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E7C4EF-025F-D679-5C29-878A47FDD5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83" y="2036669"/>
            <a:ext cx="7099317" cy="42522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414B14-AECF-BD0D-F3A1-93164A0FC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81300"/>
            <a:ext cx="6115708" cy="3138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D760D0-6F29-DA53-26FA-C3858B666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5753100"/>
            <a:ext cx="6756417" cy="3399104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CD4B6CE3-81BC-74DC-45CA-1B7A50D267CE}"/>
              </a:ext>
            </a:extLst>
          </p:cNvPr>
          <p:cNvSpPr txBox="1"/>
          <p:nvPr/>
        </p:nvSpPr>
        <p:spPr>
          <a:xfrm>
            <a:off x="1102865" y="6833193"/>
            <a:ext cx="6888685" cy="49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9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ADDS MONEY TO THE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5105401" y="283155"/>
            <a:ext cx="9448800" cy="1418687"/>
            <a:chOff x="2956504" y="25893"/>
            <a:chExt cx="5903929" cy="634545"/>
          </a:xfrm>
        </p:grpSpPr>
        <p:sp>
          <p:nvSpPr>
            <p:cNvPr id="4" name="Freeform 4"/>
            <p:cNvSpPr/>
            <p:nvPr/>
          </p:nvSpPr>
          <p:spPr>
            <a:xfrm>
              <a:off x="2956504" y="113267"/>
              <a:ext cx="5903929" cy="458214"/>
            </a:xfrm>
            <a:custGeom>
              <a:avLst/>
              <a:gdLst/>
              <a:ahLst/>
              <a:cxnLst/>
              <a:rect l="l" t="t" r="r" b="b"/>
              <a:pathLst>
                <a:path w="2129752" h="337051">
                  <a:moveTo>
                    <a:pt x="52657" y="0"/>
                  </a:moveTo>
                  <a:lnTo>
                    <a:pt x="2077095" y="0"/>
                  </a:lnTo>
                  <a:cubicBezTo>
                    <a:pt x="2091061" y="0"/>
                    <a:pt x="2104454" y="5548"/>
                    <a:pt x="2114329" y="15423"/>
                  </a:cubicBezTo>
                  <a:cubicBezTo>
                    <a:pt x="2124204" y="25298"/>
                    <a:pt x="2129752" y="38691"/>
                    <a:pt x="2129752" y="52657"/>
                  </a:cubicBezTo>
                  <a:lnTo>
                    <a:pt x="2129752" y="284394"/>
                  </a:lnTo>
                  <a:cubicBezTo>
                    <a:pt x="2129752" y="313475"/>
                    <a:pt x="2106177" y="337051"/>
                    <a:pt x="2077095" y="337051"/>
                  </a:cubicBezTo>
                  <a:lnTo>
                    <a:pt x="52657" y="337051"/>
                  </a:lnTo>
                  <a:cubicBezTo>
                    <a:pt x="38691" y="337051"/>
                    <a:pt x="25298" y="331503"/>
                    <a:pt x="15423" y="321628"/>
                  </a:cubicBezTo>
                  <a:cubicBezTo>
                    <a:pt x="5548" y="311753"/>
                    <a:pt x="0" y="298359"/>
                    <a:pt x="0" y="284394"/>
                  </a:cubicBezTo>
                  <a:lnTo>
                    <a:pt x="0" y="52657"/>
                  </a:lnTo>
                  <a:cubicBezTo>
                    <a:pt x="0" y="23575"/>
                    <a:pt x="23575" y="0"/>
                    <a:pt x="526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20877" y="25893"/>
              <a:ext cx="4718161" cy="63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4800" b="1" u="sng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TRANSACTION RECEIPT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00200" y="2275861"/>
            <a:ext cx="13844053" cy="1541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55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USED TO DISPLAY THE NUMBER OF COMPLETED TRANSACTIONS AS A RECEIPT.</a:t>
            </a:r>
          </a:p>
          <a:p>
            <a:pPr>
              <a:lnSpc>
                <a:spcPts val="4055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➡ USES FOR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B3C6B9-5B85-94A6-E2D8-0381F0F05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3009900"/>
            <a:ext cx="10515600" cy="6418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290557-BCBD-C564-4E62-DCDE04969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560302"/>
            <a:ext cx="10033974" cy="34508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583999" y="0"/>
            <a:ext cx="7120002" cy="10156147"/>
          </a:xfrm>
          <a:custGeom>
            <a:avLst/>
            <a:gdLst/>
            <a:ahLst/>
            <a:cxnLst/>
            <a:rect l="l" t="t" r="r" b="b"/>
            <a:pathLst>
              <a:path w="7120002" h="10156147">
                <a:moveTo>
                  <a:pt x="0" y="0"/>
                </a:moveTo>
                <a:lnTo>
                  <a:pt x="7120002" y="0"/>
                </a:lnTo>
                <a:lnTo>
                  <a:pt x="7120002" y="10156147"/>
                </a:lnTo>
                <a:lnTo>
                  <a:pt x="0" y="10156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5" r="-28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791276" y="3476377"/>
            <a:ext cx="6705448" cy="333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2"/>
              </a:lnSpc>
            </a:pPr>
            <a:r>
              <a:rPr lang="en-US" sz="12992" b="1" dirty="0">
                <a:solidFill>
                  <a:srgbClr val="FFFFFF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THANK YOU!</a:t>
            </a:r>
          </a:p>
        </p:txBody>
      </p:sp>
      <p:sp>
        <p:nvSpPr>
          <p:cNvPr id="4" name="Freeform 4"/>
          <p:cNvSpPr/>
          <p:nvPr/>
        </p:nvSpPr>
        <p:spPr>
          <a:xfrm>
            <a:off x="54591" y="876300"/>
            <a:ext cx="2655137" cy="3067911"/>
          </a:xfrm>
          <a:custGeom>
            <a:avLst/>
            <a:gdLst/>
            <a:ahLst/>
            <a:cxnLst/>
            <a:rect l="l" t="t" r="r" b="b"/>
            <a:pathLst>
              <a:path w="2655137" h="3067911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5392400" y="6362700"/>
            <a:ext cx="2655137" cy="3067911"/>
          </a:xfrm>
          <a:custGeom>
            <a:avLst/>
            <a:gdLst/>
            <a:ahLst/>
            <a:cxnLst/>
            <a:rect l="l" t="t" r="r" b="b"/>
            <a:pathLst>
              <a:path w="2655137" h="3067911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273</Words>
  <Application>Microsoft Office PowerPoint</Application>
  <PresentationFormat>Custom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Berlin Sans FB</vt:lpstr>
      <vt:lpstr>Arial</vt:lpstr>
      <vt:lpstr>Times New Roman</vt:lpstr>
      <vt:lpstr>Poppins</vt:lpstr>
      <vt:lpstr>Poppins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Company</dc:title>
  <cp:lastModifiedBy>Arun Sheppillayar</cp:lastModifiedBy>
  <cp:revision>7</cp:revision>
  <dcterms:created xsi:type="dcterms:W3CDTF">2006-08-16T00:00:00Z</dcterms:created>
  <dcterms:modified xsi:type="dcterms:W3CDTF">2026-02-23T16:51:15Z</dcterms:modified>
  <dc:identifier>DAHBzVSgIZc</dc:identifier>
</cp:coreProperties>
</file>